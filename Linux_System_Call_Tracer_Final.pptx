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640080"/>
            <a:ext cx="4572000" cy="4572000"/>
          </a:xfrm>
          <a:prstGeom prst="ellipse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91440"/>
            <a:ext cx="3108960" cy="3108960"/>
          </a:xfrm>
          <a:prstGeom prst="ellipse">
            <a:avLst/>
          </a:prstGeom>
          <a:solidFill>
            <a:srgbClr val="09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64040" y="411480"/>
            <a:ext cx="2468880" cy="2468880"/>
          </a:xfrm>
          <a:prstGeom prst="ellipse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0" y="2057400"/>
            <a:ext cx="4160520" cy="2880360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2057400"/>
            <a:ext cx="4160520" cy="438912"/>
          </a:xfrm>
          <a:prstGeom prst="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16368" y="2194560"/>
            <a:ext cx="100584" cy="100584"/>
          </a:xfrm>
          <a:prstGeom prst="ellipse">
            <a:avLst/>
          </a:prstGeom>
          <a:solidFill>
            <a:srgbClr val="FF6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44968" y="2194560"/>
            <a:ext cx="100584" cy="100584"/>
          </a:xfrm>
          <a:prstGeom prst="ellipse">
            <a:avLst/>
          </a:prstGeom>
          <a:solidFill>
            <a:srgbClr val="FFB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73568" y="2194560"/>
            <a:ext cx="100584" cy="100584"/>
          </a:xfrm>
          <a:prstGeom prst="ellipse">
            <a:avLst/>
          </a:prstGeom>
          <a:solidFill>
            <a:srgbClr val="5CE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157984"/>
            <a:ext cx="2468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EBED8"/>
                </a:solidFill>
                <a:latin typeface="Aptos"/>
              </a:rPr>
              <a:t>terminal • tracer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788920"/>
            <a:ext cx="3383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CE2A4"/>
                </a:solidFill>
                <a:latin typeface="Consolas"/>
              </a:rPr>
              <a:t>$ ./syscall-tracer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310128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0DCDE"/>
                </a:solidFill>
                <a:latin typeface="Consolas"/>
              </a:rPr>
              <a:t>PID: 2841   STATE: RUNNING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813048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8FF"/>
                </a:solidFill>
                <a:latin typeface="Consolas"/>
              </a:rPr>
              <a:t>openat()  =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160520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8FF"/>
                </a:solidFill>
                <a:latin typeface="Consolas"/>
              </a:rPr>
              <a:t>read()    = 128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0799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8FF"/>
                </a:solidFill>
                <a:latin typeface="Consolas"/>
              </a:rPr>
              <a:t>write()   = 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713232"/>
            <a:ext cx="5760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0DCDE"/>
                </a:solidFill>
                <a:latin typeface="Aptos"/>
              </a:rPr>
              <a:t>LINUX • SYSTEMS PROGRAMMING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417320"/>
            <a:ext cx="6400800" cy="1645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4F8FF"/>
                </a:solidFill>
                <a:latin typeface="Aptos"/>
              </a:rPr>
              <a:t>Linux System
Call Tracer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218688"/>
            <a:ext cx="585216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AEBED8"/>
                </a:solidFill>
                <a:latin typeface="Aptos"/>
              </a:rPr>
              <a:t>Monitor and report the system calls invoked
by a selected process during execution.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4279392"/>
            <a:ext cx="73152" cy="914400"/>
          </a:xfrm>
          <a:prstGeom prst="rect">
            <a:avLst/>
          </a:prstGeom>
          <a:solidFill>
            <a:srgbClr val="30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315968"/>
            <a:ext cx="53035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0DCDE"/>
                </a:solidFill>
                <a:latin typeface="Aptos"/>
              </a:rPr>
              <a:t>PRESENTED 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626864"/>
            <a:ext cx="57607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8FF"/>
                </a:solidFill>
                <a:latin typeface="Aptos"/>
              </a:rPr>
              <a:t>2520090002  Hruthika
2520090093  Yuktha
2520080010  Gayathri Srivalli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619963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EBED8"/>
                </a:solidFill>
                <a:latin typeface="Aptos"/>
              </a:rPr>
              <a:t>OBSERVE  •  TRACE  •  UNDERSTAND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0DCDE"/>
                </a:solidFill>
                <a:latin typeface="Aptos"/>
              </a:rPr>
              <a:t>01 /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8FF"/>
                </a:solidFill>
                <a:latin typeface="Aptos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53312"/>
            <a:ext cx="749808" cy="41148"/>
          </a:xfrm>
          <a:prstGeom prst="rect">
            <a:avLst/>
          </a:prstGeom>
          <a:solidFill>
            <a:srgbClr val="30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8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64808"/>
            <a:ext cx="5943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EBED8"/>
                </a:solidFill>
                <a:latin typeface="Aptos"/>
              </a:rPr>
              <a:t>LINUX SYSTEM CALL TRACER  •  SYSTEMS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64008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30DCDE"/>
                </a:solidFill>
                <a:latin typeface="Aptos"/>
              </a:rPr>
              <a:t>What is happening behind a running process?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6400800" cy="3154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600"/>
              </a:spcAft>
              <a:defRPr>
                <a:latin typeface="Aptos"/>
              </a:defRPr>
            </a:pPr>
            <a:r>
              <a:rPr sz="1700" b="0">
                <a:solidFill>
                  <a:srgbClr val="F4F8FF"/>
                </a:solidFill>
                <a:latin typeface="Aptos"/>
              </a:rPr>
              <a:t>Applications rely on the Linux kernel to perform operations such as file access, input/output, process creation and memory management.</a:t>
            </a:r>
          </a:p>
          <a:p>
            <a:pPr>
              <a:spcAft>
                <a:spcPts val="1600"/>
              </a:spcAft>
              <a:defRPr>
                <a:latin typeface="Aptos"/>
              </a:defRPr>
            </a:pPr>
            <a:r>
              <a:rPr sz="1700" b="0">
                <a:solidFill>
                  <a:srgbClr val="F4F8FF"/>
                </a:solidFill>
                <a:latin typeface="Aptos"/>
              </a:rPr>
              <a:t>These interactions happen through system calls, but they are not always visible to a user or developer.</a:t>
            </a:r>
          </a:p>
          <a:p>
            <a:pPr>
              <a:spcAft>
                <a:spcPts val="1600"/>
              </a:spcAft>
              <a:defRPr>
                <a:latin typeface="Aptos"/>
              </a:defRPr>
            </a:pPr>
            <a:r>
              <a:rPr sz="1700" b="0">
                <a:solidFill>
                  <a:srgbClr val="F4F8FF"/>
                </a:solidFill>
                <a:latin typeface="Aptos"/>
              </a:rPr>
              <a:t>Without tracing, diagnosing unexpected behaviour and understanding a process’s interaction with the operating system can be difficult.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828800"/>
            <a:ext cx="3749039" cy="3429000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14884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B457"/>
                </a:solidFill>
                <a:latin typeface="Aptos"/>
              </a:rPr>
              <a:t>THE CORE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2697480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0DCDE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679192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8FF"/>
                </a:solidFill>
                <a:latin typeface="Aptos"/>
              </a:rPr>
              <a:t>Limited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962656"/>
            <a:ext cx="2468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EBED8"/>
                </a:solidFill>
                <a:latin typeface="Aptos"/>
              </a:rPr>
              <a:t>System-call activity is hidden during normal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3483864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0DCDE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465576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8FF"/>
                </a:solidFill>
                <a:latin typeface="Aptos"/>
              </a:rPr>
              <a:t>Hard to diagnose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749039"/>
            <a:ext cx="2468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EBED8"/>
                </a:solidFill>
                <a:latin typeface="Aptos"/>
              </a:rPr>
              <a:t>Unexpected behaviour can be difficult to investigate.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4270248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0DCDE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4251960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8FF"/>
                </a:solidFill>
                <a:latin typeface="Aptos"/>
              </a:rPr>
              <a:t>Need for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4535424"/>
            <a:ext cx="2468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EBED8"/>
                </a:solidFill>
                <a:latin typeface="Aptos"/>
              </a:rPr>
              <a:t>Developers need a readable trace of kernel interactions.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806440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CE2A4"/>
                </a:solidFill>
                <a:latin typeface="Aptos"/>
              </a:rPr>
              <a:t>Goal: make a selected process’s system-call activity easier to observe and understand.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0DCDE"/>
                </a:solidFill>
                <a:latin typeface="Aptos"/>
              </a:rPr>
              <a:t>02 / 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8FF"/>
                </a:solidFill>
                <a:latin typeface="Aptos"/>
              </a:rP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53312"/>
            <a:ext cx="749808" cy="41148"/>
          </a:xfrm>
          <a:prstGeom prst="rect">
            <a:avLst/>
          </a:prstGeom>
          <a:solidFill>
            <a:srgbClr val="30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8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64808"/>
            <a:ext cx="5943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EBED8"/>
                </a:solidFill>
                <a:latin typeface="Aptos"/>
              </a:rPr>
              <a:t>LINUX SYSTEM CALL TRACER  •  SYSTEMS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10607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AEBED8"/>
                </a:solidFill>
                <a:latin typeface="Aptos"/>
              </a:rPr>
              <a:t>A lightweight tracing tool that captures and presents system-call activity for a chosen process.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920240" cy="2011680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724912"/>
            <a:ext cx="438912" cy="438912"/>
          </a:xfrm>
          <a:prstGeom prst="ellipse">
            <a:avLst/>
          </a:prstGeom>
          <a:solidFill>
            <a:srgbClr val="30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816352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91022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337560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8FF"/>
                </a:solidFill>
                <a:latin typeface="Aptos"/>
              </a:rPr>
              <a:t>Select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62763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ED8"/>
                </a:solidFill>
                <a:latin typeface="Aptos"/>
              </a:rPr>
              <a:t>Choose the target
process or launch it
through the tracer.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514600"/>
            <a:ext cx="1920240" cy="2011680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36392" y="2724912"/>
            <a:ext cx="438912" cy="438912"/>
          </a:xfrm>
          <a:prstGeom prst="ellipse">
            <a:avLst/>
          </a:prstGeom>
          <a:solidFill>
            <a:srgbClr val="4A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6392" y="2816352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91022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3337560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8FF"/>
                </a:solidFill>
                <a:latin typeface="Aptos"/>
              </a:rPr>
              <a:t>Capture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3730752"/>
            <a:ext cx="162763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ED8"/>
                </a:solidFill>
                <a:latin typeface="Aptos"/>
              </a:rPr>
              <a:t>Observe system calls
made during process
execution.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2514600"/>
            <a:ext cx="1920240" cy="2011680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76672" y="2724912"/>
            <a:ext cx="438912" cy="438912"/>
          </a:xfrm>
          <a:prstGeom prst="ellipse">
            <a:avLst/>
          </a:prstGeom>
          <a:solidFill>
            <a:srgbClr val="5CE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76672" y="2816352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91022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337560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8FF"/>
                </a:solidFill>
                <a:latin typeface="Aptos"/>
              </a:rPr>
              <a:t>Collect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3730752"/>
            <a:ext cx="162763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ED8"/>
                </a:solidFill>
                <a:latin typeface="Aptos"/>
              </a:rPr>
              <a:t>Record call names,
arguments where available,
return values and errors.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2514600"/>
            <a:ext cx="1920240" cy="2011680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16952" y="2724912"/>
            <a:ext cx="438912" cy="438912"/>
          </a:xfrm>
          <a:prstGeom prst="ellipse">
            <a:avLst/>
          </a:prstGeom>
          <a:solidFill>
            <a:srgbClr val="FFB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16952" y="2816352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91022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3337560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8FF"/>
                </a:solidFill>
                <a:latin typeface="Aptos"/>
              </a:rPr>
              <a:t>Report trace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2" y="3730752"/>
            <a:ext cx="162763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ED8"/>
                </a:solidFill>
                <a:latin typeface="Aptos"/>
              </a:rPr>
              <a:t>Display an ordered,
readable trace for
inspection and debugging.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2" y="3246120"/>
            <a:ext cx="2011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30DCDE"/>
                </a:solidFill>
                <a:latin typeface="Aptos"/>
              </a:rP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5192" y="3246120"/>
            <a:ext cx="2011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30DCDE"/>
                </a:solidFill>
                <a:latin typeface="Aptos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2" y="3246120"/>
            <a:ext cx="2011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30DCDE"/>
                </a:solidFill>
                <a:latin typeface="Aptos"/>
              </a:rP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01091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0DCDE"/>
                </a:solidFill>
                <a:latin typeface="Aptos"/>
              </a:rPr>
              <a:t>KEY CAPABILITIES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440680"/>
            <a:ext cx="2148840" cy="502920"/>
          </a:xfrm>
          <a:prstGeom prst="round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577840"/>
            <a:ext cx="1920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4F8FF"/>
                </a:solidFill>
                <a:latin typeface="Aptos"/>
              </a:rPr>
              <a:t>Targeted monitoring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0" y="5440680"/>
            <a:ext cx="2148840" cy="502920"/>
          </a:xfrm>
          <a:prstGeom prst="round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1568" y="5577840"/>
            <a:ext cx="1920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4F8FF"/>
                </a:solidFill>
                <a:latin typeface="Aptos"/>
              </a:rPr>
              <a:t>Ordered trace output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06440" y="5440680"/>
            <a:ext cx="2148840" cy="502920"/>
          </a:xfrm>
          <a:prstGeom prst="round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16168" y="5577840"/>
            <a:ext cx="1920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4F8FF"/>
                </a:solidFill>
                <a:latin typeface="Aptos"/>
              </a:rPr>
              <a:t>Return/error visibility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5440680"/>
            <a:ext cx="2148840" cy="502920"/>
          </a:xfrm>
          <a:prstGeom prst="round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0767" y="5577840"/>
            <a:ext cx="1920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4F8FF"/>
                </a:solidFill>
                <a:latin typeface="Aptos"/>
              </a:rPr>
              <a:t>Debugging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0DCDE"/>
                </a:solidFill>
                <a:latin typeface="Aptos"/>
              </a:rPr>
              <a:t>03 /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8FF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53312"/>
            <a:ext cx="749808" cy="41148"/>
          </a:xfrm>
          <a:prstGeom prst="rect">
            <a:avLst/>
          </a:prstGeom>
          <a:solidFill>
            <a:srgbClr val="30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8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64808"/>
            <a:ext cx="5943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EBED8"/>
                </a:solidFill>
                <a:latin typeface="Aptos"/>
              </a:rPr>
              <a:t>LINUX SYSTEM CALL TRACER  •  SYSTEMS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515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ED8"/>
                </a:solidFill>
                <a:latin typeface="Aptos"/>
              </a:rPr>
              <a:t>The tracer sits between the user’s debugging workflow and the operating-system process being observed.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2148840"/>
            <a:ext cx="8046720" cy="566928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0" y="2148840"/>
            <a:ext cx="100584" cy="566928"/>
          </a:xfrm>
          <a:prstGeom prst="rect">
            <a:avLst/>
          </a:prstGeom>
          <a:solidFill>
            <a:srgbClr val="4A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2231136"/>
            <a:ext cx="28346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A83FF"/>
                </a:solidFill>
                <a:latin typeface="Aptos"/>
              </a:rPr>
              <a:t>USER /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240280"/>
            <a:ext cx="46634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8FF"/>
                </a:solidFill>
                <a:latin typeface="Aptos"/>
              </a:rPr>
              <a:t>Selects target process and starts tracing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68833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30DCDE"/>
                </a:solidFill>
                <a:latin typeface="Aptos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2862072"/>
            <a:ext cx="8046720" cy="566928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7400" y="2862072"/>
            <a:ext cx="100584" cy="566928"/>
          </a:xfrm>
          <a:prstGeom prst="rect">
            <a:avLst/>
          </a:prstGeom>
          <a:solidFill>
            <a:srgbClr val="30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13432" y="2944368"/>
            <a:ext cx="28346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0DCDE"/>
                </a:solidFill>
                <a:latin typeface="Aptos"/>
              </a:rPr>
              <a:t>TRACER 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953512"/>
            <a:ext cx="46634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8FF"/>
                </a:solidFill>
                <a:latin typeface="Aptos"/>
              </a:rPr>
              <a:t>Attaches to or launches the selected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401568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30DCDE"/>
                </a:solidFill>
                <a:latin typeface="Apto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57400" y="3575304"/>
            <a:ext cx="8046720" cy="566928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57400" y="3575304"/>
            <a:ext cx="100584" cy="566928"/>
          </a:xfrm>
          <a:prstGeom prst="rect">
            <a:avLst/>
          </a:prstGeom>
          <a:solidFill>
            <a:srgbClr val="5CE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13432" y="3657600"/>
            <a:ext cx="28346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CE2A4"/>
                </a:solidFill>
                <a:latin typeface="Aptos"/>
              </a:rPr>
              <a:t>SYSTEM-CALL CAPTURE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666744"/>
            <a:ext cx="46634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8FF"/>
                </a:solidFill>
                <a:latin typeface="Aptos"/>
              </a:rPr>
              <a:t>Collects call entry/exit events and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114800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30DCDE"/>
                </a:solidFill>
                <a:latin typeface="Aptos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57400" y="4288536"/>
            <a:ext cx="8046720" cy="566928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57400" y="4288536"/>
            <a:ext cx="100584" cy="566928"/>
          </a:xfrm>
          <a:prstGeom prst="rect">
            <a:avLst/>
          </a:prstGeom>
          <a:solidFill>
            <a:srgbClr val="FFB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13432" y="4370831"/>
            <a:ext cx="28346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B457"/>
                </a:solidFill>
                <a:latin typeface="Aptos"/>
              </a:rPr>
              <a:t>LINUX KERNEL + TARGET 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379975"/>
            <a:ext cx="46634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8FF"/>
                </a:solidFill>
                <a:latin typeface="Aptos"/>
              </a:rPr>
              <a:t>System calls cross the user–kernel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4828031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30DCDE"/>
                </a:solidFill>
                <a:latin typeface="Aptos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57400" y="5001768"/>
            <a:ext cx="8046720" cy="566928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57400" y="5001768"/>
            <a:ext cx="100584" cy="566928"/>
          </a:xfrm>
          <a:prstGeom prst="rect">
            <a:avLst/>
          </a:prstGeom>
          <a:solidFill>
            <a:srgbClr val="4A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13432" y="5084064"/>
            <a:ext cx="28346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A83FF"/>
                </a:solidFill>
                <a:latin typeface="Aptos"/>
              </a:rPr>
              <a:t>TRACE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093208"/>
            <a:ext cx="46634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8FF"/>
                </a:solidFill>
                <a:latin typeface="Aptos"/>
              </a:rPr>
              <a:t>Formats events into readable output for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84831" y="5989320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AEBED8"/>
                </a:solidFill>
                <a:latin typeface="Aptos"/>
              </a:rPr>
              <a:t>Typical Linux implementation: ptrace-based tracing or an equivalent system-call tracing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7772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0DCDE"/>
                </a:solidFill>
                <a:latin typeface="Aptos"/>
              </a:rPr>
              <a:t>04 / 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4F8FF"/>
                </a:solidFill>
                <a:latin typeface="Aptos"/>
              </a:rPr>
              <a:t>Working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53312"/>
            <a:ext cx="749808" cy="41148"/>
          </a:xfrm>
          <a:prstGeom prst="rect">
            <a:avLst/>
          </a:prstGeom>
          <a:solidFill>
            <a:srgbClr val="30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59436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EBED8"/>
                </a:solidFill>
                <a:latin typeface="Aptos"/>
              </a:rPr>
              <a:t>LINUX SYSTEM CALL TRACER  •  SYSTEMS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EBED8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10607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EBED8"/>
                </a:solidFill>
                <a:latin typeface="Aptos"/>
              </a:rPr>
              <a:t>The tracer follows a simple sequence to turn system-call activity into useful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514600"/>
            <a:ext cx="2487168" cy="2212848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2743200"/>
            <a:ext cx="512064" cy="512064"/>
          </a:xfrm>
          <a:prstGeom prst="ellipse">
            <a:avLst/>
          </a:prstGeom>
          <a:solidFill>
            <a:srgbClr val="30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898648"/>
            <a:ext cx="512064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91022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493008"/>
            <a:ext cx="2057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4F8FF"/>
                </a:solidFill>
                <a:latin typeface="Aptos"/>
              </a:rPr>
              <a:t>Choose a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931920"/>
            <a:ext cx="205740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8"/>
                </a:solidFill>
                <a:latin typeface="Aptos"/>
              </a:rPr>
              <a:t>Identify the process to inspect or launch it through the tracer.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82696" y="3337560"/>
            <a:ext cx="274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0DCDE"/>
                </a:solidFill>
                <a:latin typeface="Aptos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2736" y="2514600"/>
            <a:ext cx="2487168" cy="2212848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03904" y="2743200"/>
            <a:ext cx="512064" cy="512064"/>
          </a:xfrm>
          <a:prstGeom prst="ellipse">
            <a:avLst/>
          </a:prstGeom>
          <a:solidFill>
            <a:srgbClr val="4A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904" y="2898648"/>
            <a:ext cx="512064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91022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3493008"/>
            <a:ext cx="2057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4F8FF"/>
                </a:solidFill>
                <a:latin typeface="Aptos"/>
              </a:rPr>
              <a:t>Start tracing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3931920"/>
            <a:ext cx="205740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8"/>
                </a:solidFill>
                <a:latin typeface="Aptos"/>
              </a:rPr>
              <a:t>Attach to the target and observe system-call events during execution.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4" y="3337560"/>
            <a:ext cx="274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0DCDE"/>
                </a:solidFill>
                <a:latin typeface="Aptos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55664" y="2514600"/>
            <a:ext cx="2487168" cy="2212848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56832" y="2743200"/>
            <a:ext cx="512064" cy="512064"/>
          </a:xfrm>
          <a:prstGeom prst="ellipse">
            <a:avLst/>
          </a:prstGeom>
          <a:solidFill>
            <a:srgbClr val="5CE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2898648"/>
            <a:ext cx="512064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91022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3493008"/>
            <a:ext cx="2057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4F8FF"/>
                </a:solidFill>
                <a:latin typeface="Aptos"/>
              </a:rPr>
              <a:t>Capture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3931920"/>
            <a:ext cx="205740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8"/>
                </a:solidFill>
                <a:latin typeface="Aptos"/>
              </a:rPr>
              <a:t>Collect available call details, return values and error information.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3337560"/>
            <a:ext cx="274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0DCDE"/>
                </a:solidFill>
                <a:latin typeface="Aptos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08592" y="2514600"/>
            <a:ext cx="2487168" cy="2212848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09760" y="2743200"/>
            <a:ext cx="512064" cy="512064"/>
          </a:xfrm>
          <a:prstGeom prst="ellipse">
            <a:avLst/>
          </a:prstGeom>
          <a:solidFill>
            <a:srgbClr val="FFB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2898648"/>
            <a:ext cx="512064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91022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493008"/>
            <a:ext cx="2057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4F8FF"/>
                </a:solidFill>
                <a:latin typeface="Aptos"/>
              </a:rPr>
              <a:t>Review the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931920"/>
            <a:ext cx="205740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8"/>
                </a:solidFill>
                <a:latin typeface="Aptos"/>
              </a:rPr>
              <a:t>Read the ordered trace to understand behaviour and investigate issues.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257800"/>
            <a:ext cx="10652760" cy="694944"/>
          </a:xfrm>
          <a:prstGeom prst="round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468112"/>
            <a:ext cx="20116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0DCDE"/>
                </a:solidFill>
                <a:latin typeface="Aptos"/>
              </a:rPr>
              <a:t>INPUT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5431536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8FF"/>
                </a:solidFill>
                <a:latin typeface="Aptos"/>
              </a:rPr>
              <a:t>Selected 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468112"/>
            <a:ext cx="20116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E2A4"/>
                </a:solidFill>
                <a:latin typeface="Aptos"/>
              </a:rPr>
              <a:t>PROCESSING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5431536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8FF"/>
                </a:solidFill>
                <a:latin typeface="Aptos"/>
              </a:rPr>
              <a:t>Trace collection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468112"/>
            <a:ext cx="15544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B457"/>
                </a:solidFill>
                <a:latin typeface="Aptos"/>
              </a:rPr>
              <a:t>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5431536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8FF"/>
                </a:solidFill>
                <a:latin typeface="Aptos"/>
              </a:rPr>
              <a:t>Readable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0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58200" y="-502920"/>
            <a:ext cx="4297680" cy="4297680"/>
          </a:xfrm>
          <a:prstGeom prst="ellipse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06840" y="45720"/>
            <a:ext cx="3200400" cy="3200400"/>
          </a:xfrm>
          <a:prstGeom prst="ellipse">
            <a:avLst/>
          </a:prstGeom>
          <a:solidFill>
            <a:srgbClr val="09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55480" y="594360"/>
            <a:ext cx="2103120" cy="2103120"/>
          </a:xfrm>
          <a:prstGeom prst="ellipse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0080"/>
            <a:ext cx="6217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DCDE"/>
                </a:solidFill>
                <a:latin typeface="Aptos"/>
              </a:rPr>
              <a:t>05 /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70432"/>
            <a:ext cx="6949440" cy="7498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4F8FF"/>
                </a:solidFill>
                <a:latin typeface="Aptos"/>
              </a:rPr>
              <a:t>Making the Invisible
Visible.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07792"/>
            <a:ext cx="6492240" cy="8412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AEBED8"/>
                </a:solidFill>
                <a:latin typeface="Aptos"/>
              </a:rPr>
              <a:t>The Linux System Call Tracer helps reveal how a selected process interacts with the operating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0520"/>
            <a:ext cx="2084831" cy="1115568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4352544"/>
            <a:ext cx="17830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0DCDE"/>
                </a:solidFill>
                <a:latin typeface="Aptos"/>
              </a:rPr>
              <a:t>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4681728"/>
            <a:ext cx="178308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F"/>
                </a:solidFill>
                <a:latin typeface="Aptos"/>
              </a:rPr>
              <a:t>Makes system-call activity easier to inspect.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7248" y="4160520"/>
            <a:ext cx="2084831" cy="1115568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4352544"/>
            <a:ext cx="17830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E2A4"/>
                </a:solidFill>
                <a:latin typeface="Aptos"/>
              </a:rPr>
              <a:t>DEBUGGING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4681728"/>
            <a:ext cx="178308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F"/>
                </a:solidFill>
                <a:latin typeface="Aptos"/>
              </a:rPr>
              <a:t>Helps investigate unexpected program behaviour.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31536" y="4160520"/>
            <a:ext cx="2084831" cy="1115568"/>
          </a:xfrm>
          <a:prstGeom prst="roundRect">
            <a:avLst/>
          </a:prstGeom>
          <a:solidFill>
            <a:srgbClr val="11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4352544"/>
            <a:ext cx="17830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B457"/>
                </a:solidFill>
                <a:latin typeface="Aptos"/>
              </a:rPr>
              <a:t>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4681728"/>
            <a:ext cx="178308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F"/>
                </a:solidFill>
                <a:latin typeface="Aptos"/>
              </a:rPr>
              <a:t>Demonstrates interaction between user space and the kernel.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2880360"/>
            <a:ext cx="2834640" cy="2148840"/>
          </a:xfrm>
          <a:prstGeom prst="round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3273552"/>
            <a:ext cx="22402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4F8FF"/>
                </a:solidFill>
                <a:latin typeface="Aptos"/>
              </a:rPr>
              <a:t>THANK YOU!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3950208"/>
            <a:ext cx="22402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0DCDE"/>
                </a:solidFill>
                <a:latin typeface="Aptos"/>
              </a:rPr>
              <a:t>Questions?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080760"/>
            <a:ext cx="6858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DCDE"/>
                </a:solidFill>
                <a:latin typeface="Aptos"/>
              </a:rPr>
              <a:t>OBSERVE  •  ANALYSE  •  UNDERSTAND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EBED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